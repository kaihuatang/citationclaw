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5C2E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54864"/>
            <a:ext cx="2286000" cy="5088636"/>
          </a:xfrm>
          <a:prstGeom prst="rect">
            <a:avLst/>
          </a:prstGeom>
          <a:solidFill>
            <a:srgbClr val="9E3A1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7373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CitationClaw v2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学术引文智能分析平台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31520" y="33832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8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项目架构介绍 · 团队分工 · 发展路线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4206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8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75C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1F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CitationClaw 是什么？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8638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64008" cy="1097280"/>
          </a:xfrm>
          <a:prstGeom prst="rect">
            <a:avLst/>
          </a:prstGeom>
          <a:solidFill>
            <a:srgbClr val="C75C2E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23444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面向科研人员的学术引文分析工具 —— 自动检索论文的所有施引文献，识别施引作者中的知名学者，提取引文描述，生成可视化分析报告。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3749040" cy="1005840"/>
          </a:xfrm>
          <a:prstGeom prst="rect">
            <a:avLst/>
          </a:prstGeom>
          <a:solidFill>
            <a:srgbClr val="FFF2E8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816352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施引文献检索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63040" y="3063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Scholar 全量爬取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2560320"/>
            <a:ext cx="3749040" cy="1005840"/>
          </a:xfrm>
          <a:prstGeom prst="rect">
            <a:avLst/>
          </a:prstGeom>
          <a:solidFill>
            <a:srgbClr val="FFF2E8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816352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结构化元数据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577840" y="3063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OpenAlex + S2 + arXiv API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3794760"/>
            <a:ext cx="3749040" cy="1005840"/>
          </a:xfrm>
          <a:prstGeom prst="rect">
            <a:avLst/>
          </a:prstGeom>
          <a:solidFill>
            <a:srgbClr val="FFF2E8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050792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931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知名学者识别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463040" y="4297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院士·Fellow·杰青·长江学者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754880" y="3794760"/>
            <a:ext cx="3749040" cy="1005840"/>
          </a:xfrm>
          <a:prstGeom prst="rect">
            <a:avLst/>
          </a:prstGeom>
          <a:solidFill>
            <a:srgbClr val="FFF2E8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4050792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77840" y="3931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引文语境提取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577840" y="4297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下载解析 + LLM 提取</a:t>
            </a:r>
            <a:endParaRPr lang="en-US" sz="12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251960"/>
            <a:ext cx="320040" cy="3200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325880" y="4251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输出：Excel 报表 + HTML 交互式仪表盘 + JSON 结构化数据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75C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1F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v1.0.9 的核心硬伤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78638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548640" cy="868680"/>
          </a:xfrm>
          <a:prstGeom prst="rect">
            <a:avLst/>
          </a:prstGeom>
          <a:solidFill>
            <a:srgbClr val="C4404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48132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57400" y="137160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幻觉严重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057400" y="1719072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作者信息完全依赖 LLM 搜索生成，h-index、机构、职称频繁编造，数据不可信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258568"/>
            <a:ext cx="78638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" y="2258568"/>
            <a:ext cx="548640" cy="868680"/>
          </a:xfrm>
          <a:prstGeom prst="rect">
            <a:avLst/>
          </a:prstGeom>
          <a:solidFill>
            <a:srgbClr val="C44040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258568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459736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57400" y="235000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成本高昂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057400" y="269748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每篇论文需 3-5 次 LLM 调用（搜索+提取），100 篇论文消耗数万 Token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" y="3236976"/>
            <a:ext cx="78638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3236976"/>
            <a:ext cx="548640" cy="868680"/>
          </a:xfrm>
          <a:prstGeom prst="rect">
            <a:avLst/>
          </a:prstGeom>
          <a:solidFill>
            <a:srgbClr val="C44040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3236976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3438144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057400" y="332841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处理速度慢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2057400" y="3675888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串行搜索每位作者，100 篇论文需 26+ 分钟，无法应对大批量分析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40080" y="4215384"/>
            <a:ext cx="78638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0080" y="4215384"/>
            <a:ext cx="548640" cy="868680"/>
          </a:xfrm>
          <a:prstGeom prst="rect">
            <a:avLst/>
          </a:prstGeom>
          <a:solidFill>
            <a:srgbClr val="C44040"/>
          </a:solidFill>
          <a:ln/>
        </p:spPr>
      </p:sp>
      <p:sp>
        <p:nvSpPr>
          <p:cNvPr id="24" name="Text 19"/>
          <p:cNvSpPr/>
          <p:nvPr/>
        </p:nvSpPr>
        <p:spPr>
          <a:xfrm>
            <a:off x="640080" y="4215384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4416552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057400" y="430682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容错性差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2057400" y="4654296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单点失败导致全流程中断，无增量缓存机制，中途中断需完全重跑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4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核心矛盾：将 LLM 当作搜索引擎使用 → 不可控的幻觉 + 不可控的成本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75C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1F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 设计理念：三层架构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核心原则：事实先行，LLM 只做结构化提取，不做搜索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97280" y="1463040"/>
            <a:ext cx="69494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1463040"/>
            <a:ext cx="73152" cy="960120"/>
          </a:xfrm>
          <a:prstGeom prst="rect">
            <a:avLst/>
          </a:prstGeom>
          <a:solidFill>
            <a:srgbClr val="5B8BA0"/>
          </a:solidFill>
          <a:ln/>
        </p:spPr>
      </p:sp>
      <p:sp>
        <p:nvSpPr>
          <p:cNvPr id="7" name="Shape 5"/>
          <p:cNvSpPr/>
          <p:nvPr/>
        </p:nvSpPr>
        <p:spPr>
          <a:xfrm>
            <a:off x="1417320" y="1645920"/>
            <a:ext cx="502920" cy="502920"/>
          </a:xfrm>
          <a:prstGeom prst="ellipse">
            <a:avLst/>
          </a:prstGeom>
          <a:solidFill>
            <a:srgbClr val="5B8BA0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4884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事实层 Fact Layer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148840" y="19019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/ OpenAlex / arXiv API 结构化查询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PDF 本地解析（PyMuPDF），零幻觉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766560" y="1755648"/>
            <a:ext cx="1005840" cy="329184"/>
          </a:xfrm>
          <a:prstGeom prst="rect">
            <a:avLst/>
          </a:prstGeom>
          <a:solidFill>
            <a:srgbClr val="5B8BA0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175564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零幻觉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0" y="24231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8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7280" y="2624328"/>
            <a:ext cx="69494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7280" y="2624328"/>
            <a:ext cx="73152" cy="960120"/>
          </a:xfrm>
          <a:prstGeom prst="rect">
            <a:avLst/>
          </a:prstGeom>
          <a:solidFill>
            <a:srgbClr val="7B9E6B"/>
          </a:solidFill>
          <a:ln/>
        </p:spPr>
      </p:sp>
      <p:sp>
        <p:nvSpPr>
          <p:cNvPr id="16" name="Shape 14"/>
          <p:cNvSpPr/>
          <p:nvPr/>
        </p:nvSpPr>
        <p:spPr>
          <a:xfrm>
            <a:off x="1417320" y="2807208"/>
            <a:ext cx="502920" cy="502920"/>
          </a:xfrm>
          <a:prstGeom prst="ellipse">
            <a:avLst/>
          </a:prstGeom>
          <a:solidFill>
            <a:srgbClr val="7B9E6B"/>
          </a:solidFill>
          <a:ln/>
        </p:spPr>
      </p:sp>
      <p:sp>
        <p:nvSpPr>
          <p:cNvPr id="17" name="Text 15"/>
          <p:cNvSpPr/>
          <p:nvPr/>
        </p:nvSpPr>
        <p:spPr>
          <a:xfrm>
            <a:off x="1417320" y="2807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148840" y="27157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搜索层 Search Layer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148840" y="3063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学者搜索（仅对预筛候选人）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结果经 LLM 二次验证，去除错误结果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766560" y="2916936"/>
            <a:ext cx="1005840" cy="329184"/>
          </a:xfrm>
          <a:prstGeom prst="rect">
            <a:avLst/>
          </a:prstGeom>
          <a:solidFill>
            <a:srgbClr val="7B9E6B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29169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预筛+验证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0" y="35844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8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97280" y="3785616"/>
            <a:ext cx="69494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97280" y="3785616"/>
            <a:ext cx="73152" cy="960120"/>
          </a:xfrm>
          <a:prstGeom prst="rect">
            <a:avLst/>
          </a:prstGeom>
          <a:solidFill>
            <a:srgbClr val="C75C2E"/>
          </a:solidFill>
          <a:ln/>
        </p:spPr>
      </p:sp>
      <p:sp>
        <p:nvSpPr>
          <p:cNvPr id="25" name="Shape 23"/>
          <p:cNvSpPr/>
          <p:nvPr/>
        </p:nvSpPr>
        <p:spPr>
          <a:xfrm>
            <a:off x="1417320" y="3968496"/>
            <a:ext cx="502920" cy="502920"/>
          </a:xfrm>
          <a:prstGeom prst="ellipse">
            <a:avLst/>
          </a:prstGeom>
          <a:solidFill>
            <a:srgbClr val="C75C2E"/>
          </a:solidFill>
          <a:ln/>
        </p:spPr>
      </p:sp>
      <p:sp>
        <p:nvSpPr>
          <p:cNvPr id="26" name="Text 24"/>
          <p:cNvSpPr/>
          <p:nvPr/>
        </p:nvSpPr>
        <p:spPr>
          <a:xfrm>
            <a:off x="1417320" y="3968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2148840" y="38770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智能层 Intelligence Layer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148840" y="4224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仅做提取（引文描述、PDF首页作者）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不执行搜索，不生成新信息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766560" y="4078224"/>
            <a:ext cx="1005840" cy="329184"/>
          </a:xfrm>
          <a:prstGeom prst="rect">
            <a:avLst/>
          </a:prstGeom>
          <a:solidFill>
            <a:srgbClr val="C75C2E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0" y="407822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受控提取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4480560"/>
            <a:ext cx="7863840" cy="502920"/>
          </a:xfrm>
          <a:prstGeom prst="rect">
            <a:avLst/>
          </a:prstGeom>
          <a:solidFill>
            <a:srgbClr val="FFF2E8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4805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v1：LLM 搜索 + LLM 提取 = 幻觉 + 高成本     </a:t>
            </a:r>
            <a:pPr indent="0" marL="0">
              <a:buNone/>
            </a:pPr>
            <a:r>
              <a:rPr lang="en-US" sz="120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  </a:t>
            </a:r>
            <a:pPr indent="0" marL="0">
              <a:buNone/>
            </a:pPr>
            <a:r>
              <a:rPr lang="en-US" sz="1200" b="1" dirty="0">
                <a:solidFill>
                  <a:srgbClr val="7B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v2：API 查询 + 浏览器验证 + LLM 提取 = 可信 + 低成本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75C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F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 数据处理流程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3722" y="594360"/>
            <a:ext cx="2616556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75C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F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 核心架构思想（6 大维度）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2851" y="594360"/>
            <a:ext cx="2838298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75C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1F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流程详解（Phase 1-2）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78638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960120"/>
            <a:ext cx="64008" cy="914400"/>
          </a:xfrm>
          <a:prstGeom prst="rect">
            <a:avLst/>
          </a:prstGeom>
          <a:solidFill>
            <a:srgbClr val="C75C2E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051560"/>
            <a:ext cx="365760" cy="365760"/>
          </a:xfrm>
          <a:prstGeom prst="ellipse">
            <a:avLst/>
          </a:prstGeom>
          <a:solidFill>
            <a:srgbClr val="C75C2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0332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施引文献检索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13716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ScraperAPI + Google Scholar 爬取所有施引论文 · 年份遍历突破 1000 篇上限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103120"/>
            <a:ext cx="786384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103120"/>
            <a:ext cx="64008" cy="2834640"/>
          </a:xfrm>
          <a:prstGeom prst="rect">
            <a:avLst/>
          </a:prstGeom>
          <a:solidFill>
            <a:srgbClr val="D4956A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2194560"/>
            <a:ext cx="365760" cy="365760"/>
          </a:xfrm>
          <a:prstGeom prst="ellipse">
            <a:avLst/>
          </a:prstGeom>
          <a:solidFill>
            <a:srgbClr val="D4956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1762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作者信息采集 + PDF 解析（v2 核心改进）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0" y="2148840"/>
            <a:ext cx="1463040" cy="320040"/>
          </a:xfrm>
          <a:prstGeom prst="rect">
            <a:avLst/>
          </a:prstGeom>
          <a:solidFill>
            <a:srgbClr val="7B9E6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2148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16x 加速 · 零幻觉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97280" y="26060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54480" y="260604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目标论文作者查询 → 作为自引检测比对基准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97280" y="302666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554480" y="3026664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元数据采集（10 并发）— S2 优先 → OpenAlex 补充 → arXiv 回退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97280" y="344728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554480" y="3447288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自引检测（PDF 下载前）— 规则匹配优先，自引论文跳过下载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97280" y="386791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554480" y="3867912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下载与解析（10 并发）— 11 源优先级链 · LLM 提取首页作者 · 与 API 交叉验证 [PDF✓]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97280" y="428853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554480" y="4288536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作者信息补全 — OA Author API + S2 Author API + PDF 独有作者按名搜索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75C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1F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流程详解（Phase 3-5）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78638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960120"/>
            <a:ext cx="64008" cy="1417320"/>
          </a:xfrm>
          <a:prstGeom prst="rect">
            <a:avLst/>
          </a:prstGeom>
          <a:solidFill>
            <a:srgbClr val="7B9E6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051560"/>
            <a:ext cx="365760" cy="365760"/>
          </a:xfrm>
          <a:prstGeom prst="ellipse">
            <a:avLst/>
          </a:prstGeom>
          <a:solidFill>
            <a:srgbClr val="7B9E6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0332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学者评估 + 数据导出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1399032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规则预筛：h-index≥15 或 citations≥500 → 候选人（仅少数进入 LLM 搜索）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学者搜索 + LLM 二次验证（去除错误结果）· 6 级学者层级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机构补全 · 国家标签校验 · 导出 Excel（全量+知名学者）+ JSON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606040"/>
            <a:ext cx="78638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606040"/>
            <a:ext cx="64008" cy="1051560"/>
          </a:xfrm>
          <a:prstGeom prst="rect">
            <a:avLst/>
          </a:prstGeom>
          <a:solidFill>
            <a:srgbClr val="5B8BA0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2697480"/>
            <a:ext cx="365760" cy="365760"/>
          </a:xfrm>
          <a:prstGeom prst="ellipse">
            <a:avLst/>
          </a:prstGeom>
          <a:solidFill>
            <a:srgbClr val="5B8BA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6791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引文语境提取（可选 · 复用 Phase 2 PDF）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304495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直接复用 Phase 2 已下载的 PDF，无需重复下载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解析引用段落 → 轻量 LLM 提取引用描述 + 情感标签（正面/中性/负面）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886200"/>
            <a:ext cx="64008" cy="685800"/>
          </a:xfrm>
          <a:prstGeom prst="rect">
            <a:avLst/>
          </a:prstGeom>
          <a:solidFill>
            <a:srgbClr val="A0785C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3977640"/>
            <a:ext cx="365760" cy="365760"/>
          </a:xfrm>
          <a:prstGeom prst="ellipse">
            <a:avLst/>
          </a:prstGeom>
          <a:solidFill>
            <a:srgbClr val="A0785C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39593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仪表盘报告（可选）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63040" y="427024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交互式 HTML 仪表盘（图表 + AI 洞察 + 智能问答）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75C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1F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团队分工（3 个小组）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测试驱动质量 · 架构驱动性能 · 文档驱动社区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786384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34440"/>
            <a:ext cx="73152" cy="1170432"/>
          </a:xfrm>
          <a:prstGeom prst="rect">
            <a:avLst/>
          </a:prstGeom>
          <a:solidFill>
            <a:srgbClr val="5B8BA0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344168"/>
            <a:ext cx="438912" cy="438912"/>
          </a:xfrm>
          <a:prstGeom prst="ellipse">
            <a:avLst/>
          </a:prstGeom>
          <a:solidFill>
            <a:srgbClr val="5B8BA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344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测试组 Testing Group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1673352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收集标杆论文（含完整作者信息、单位、头衔、引文描述），构建 Ground Truth 数据集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 v2 的 5 个维度进行系统性测试：作者信息完整度 · 学者识别准确率 · PDF 下载成功率 · 引文描述覆盖率 · 报告可信度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建立自动化回归测试框架，每次迭代后对比 Benchmark 输出质量指标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542032"/>
            <a:ext cx="78638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542032"/>
            <a:ext cx="73152" cy="1417320"/>
          </a:xfrm>
          <a:prstGeom prst="rect">
            <a:avLst/>
          </a:prstGeom>
          <a:solidFill>
            <a:srgbClr val="C75C2E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2651760"/>
            <a:ext cx="438912" cy="438912"/>
          </a:xfrm>
          <a:prstGeom prst="ellipse">
            <a:avLst/>
          </a:prstGeom>
          <a:solidFill>
            <a:srgbClr val="C75C2E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6517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26334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核心架构组 Core Architecture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132320" y="2651760"/>
            <a:ext cx="1097280" cy="292608"/>
          </a:xfrm>
          <a:prstGeom prst="rect">
            <a:avLst/>
          </a:prstGeom>
          <a:solidFill>
            <a:srgbClr val="C75C2E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26517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核心小组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4400" y="3044952"/>
            <a:ext cx="1828800" cy="777240"/>
          </a:xfrm>
          <a:prstGeom prst="rect">
            <a:avLst/>
          </a:prstGeom>
          <a:solidFill>
            <a:srgbClr val="FFF2E8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" y="3044952"/>
            <a:ext cx="1828800" cy="36576"/>
          </a:xfrm>
          <a:prstGeom prst="rect">
            <a:avLst/>
          </a:prstGeom>
          <a:solidFill>
            <a:srgbClr val="D4956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1363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作者信息完整度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05840" y="34107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合并策略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交叉验证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834640" y="3044952"/>
            <a:ext cx="1828800" cy="777240"/>
          </a:xfrm>
          <a:prstGeom prst="rect">
            <a:avLst/>
          </a:prstGeom>
          <a:solidFill>
            <a:srgbClr val="FFF2E8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834640" y="3044952"/>
            <a:ext cx="1828800" cy="36576"/>
          </a:xfrm>
          <a:prstGeom prst="rect">
            <a:avLst/>
          </a:prstGeom>
          <a:solidFill>
            <a:srgbClr val="5B8BA0"/>
          </a:solidFill>
          <a:ln/>
        </p:spPr>
      </p:sp>
      <p:sp>
        <p:nvSpPr>
          <p:cNvPr id="24" name="Text 22"/>
          <p:cNvSpPr/>
          <p:nvPr/>
        </p:nvSpPr>
        <p:spPr>
          <a:xfrm>
            <a:off x="2926080" y="31363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下载成功率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926080" y="34107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源优先级链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新源接入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3044952"/>
            <a:ext cx="1828800" cy="777240"/>
          </a:xfrm>
          <a:prstGeom prst="rect">
            <a:avLst/>
          </a:prstGeom>
          <a:solidFill>
            <a:srgbClr val="FFF2E8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044952"/>
            <a:ext cx="1828800" cy="36576"/>
          </a:xfrm>
          <a:prstGeom prst="rect">
            <a:avLst/>
          </a:prstGeom>
          <a:solidFill>
            <a:srgbClr val="5B8BA0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31363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引文描述覆盖率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46320" y="34107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解析器优化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调优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675120" y="3044952"/>
            <a:ext cx="1828800" cy="777240"/>
          </a:xfrm>
          <a:prstGeom prst="rect">
            <a:avLst/>
          </a:prstGeom>
          <a:solidFill>
            <a:srgbClr val="FFF2E8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675120" y="3044952"/>
            <a:ext cx="1828800" cy="36576"/>
          </a:xfrm>
          <a:prstGeom prst="rect">
            <a:avLst/>
          </a:prstGeom>
          <a:solidFill>
            <a:srgbClr val="A0785C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0" y="31363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报告元信息可信度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766560" y="34107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来源标注审计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数据质量校验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0080" y="4096512"/>
            <a:ext cx="78638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" y="4096512"/>
            <a:ext cx="73152" cy="1051560"/>
          </a:xfrm>
          <a:prstGeom prst="rect">
            <a:avLst/>
          </a:prstGeom>
          <a:solidFill>
            <a:srgbClr val="A0785C"/>
          </a:solidFill>
          <a:ln/>
        </p:spPr>
      </p:sp>
      <p:sp>
        <p:nvSpPr>
          <p:cNvPr id="36" name="Shape 34"/>
          <p:cNvSpPr/>
          <p:nvPr/>
        </p:nvSpPr>
        <p:spPr>
          <a:xfrm>
            <a:off x="914400" y="4206240"/>
            <a:ext cx="438912" cy="438912"/>
          </a:xfrm>
          <a:prstGeom prst="ellipse">
            <a:avLst/>
          </a:prstGeom>
          <a:solidFill>
            <a:srgbClr val="A0785C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4206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554480" y="41879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开源社区组 Open Source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554480" y="4535424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项目文档维护：README · CONTRIBUTING · CHANGELOG · Architecture Docs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用户使用手册编写与更新（中英双语），包含快速上手指南和 FAQ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管理 · PR 审核流程 · Release 发布 · 社区反馈收集与需求整理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75C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1F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三组协作闭环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103120" cy="685800"/>
          </a:xfrm>
          <a:prstGeom prst="rect">
            <a:avLst/>
          </a:prstGeom>
          <a:solidFill>
            <a:srgbClr val="C75C2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核心架构组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356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 &amp; 优化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66160" y="1051560"/>
            <a:ext cx="2103120" cy="685800"/>
          </a:xfrm>
          <a:prstGeom prst="rect">
            <a:avLst/>
          </a:prstGeom>
          <a:solidFill>
            <a:srgbClr val="5B8BA0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1097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66160" y="14356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 &amp; 度量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75120" y="1051560"/>
            <a:ext cx="2103120" cy="685800"/>
          </a:xfrm>
          <a:prstGeom prst="rect">
            <a:avLst/>
          </a:prstGeom>
          <a:solidFill>
            <a:srgbClr val="A0785C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097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开源社区组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75120" y="14356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 &amp; 发布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105156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98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669280" y="105156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98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40080" y="2103120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103120"/>
            <a:ext cx="64008" cy="658368"/>
          </a:xfrm>
          <a:prstGeom prst="rect">
            <a:avLst/>
          </a:prstGeom>
          <a:solidFill>
            <a:srgbClr val="C75C2E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148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核心架构组 → 测试组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0" y="21488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每次功能迭代后，提交新版本给测试组进行 Benchmark 测评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4505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8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交付物：可运行版本 + 更新说明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2852928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2852928"/>
            <a:ext cx="64008" cy="658368"/>
          </a:xfrm>
          <a:prstGeom prst="rect">
            <a:avLst/>
          </a:prstGeom>
          <a:solidFill>
            <a:srgbClr val="5B8BA0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2898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测试组 → 核心架构组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0" y="2898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输出测试报告：作者完整度、PDF 成功率、引文覆盖率、学者准确率等量化指标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32004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8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交付物：Ground Truth 对比报告 + Bug List + 改进建议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3602736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3602736"/>
            <a:ext cx="64008" cy="658368"/>
          </a:xfrm>
          <a:prstGeom prst="rect">
            <a:avLst/>
          </a:prstGeom>
          <a:solidFill>
            <a:srgbClr val="C75C2E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36484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核心架构组 → 开源社区组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0" y="364845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功能稳定后，提供技术文档素材和 API 变更说明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39502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8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交付物：架构变更说明 + 新功能描述 + 配置项文档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" y="4352544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" y="4352544"/>
            <a:ext cx="64008" cy="658368"/>
          </a:xfrm>
          <a:prstGeom prst="rect">
            <a:avLst/>
          </a:prstGeom>
          <a:solidFill>
            <a:srgbClr val="5B8BA0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43982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测试组 → 开源社区组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0" y="43982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提供测试用例和性能数据，用于用户手册中的「效果展示」部分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14400" y="47000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8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交付物：Benchmark 数据 + 示例输出 + 使用场景说明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solidFill>
            <a:srgbClr val="FFF2E8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45720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核心节奏：2 周一轮迭代 → 测试组 3 天出报告 → 架构组修复 → 开源组同步文档发布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75C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1F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功能延伸路线图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05840"/>
            <a:ext cx="64008" cy="713232"/>
          </a:xfrm>
          <a:prstGeom prst="rect">
            <a:avLst/>
          </a:prstGeom>
          <a:solidFill>
            <a:srgbClr val="C75C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6128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PaperRadar 集成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17320" y="132588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结合 PaperRadar 的论文追踪能力，实现「引文监控」—— 新引用自动通知，实时增量更新分析报告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315200" y="1078992"/>
            <a:ext cx="1005840" cy="228600"/>
          </a:xfrm>
          <a:prstGeom prst="rect">
            <a:avLst/>
          </a:prstGeom>
          <a:solidFill>
            <a:srgbClr val="C75C2E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0" y="10789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高优先级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40080" y="1810512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" y="1810512"/>
            <a:ext cx="64008" cy="713232"/>
          </a:xfrm>
          <a:prstGeom prst="rect">
            <a:avLst/>
          </a:prstGeom>
          <a:solidFill>
            <a:srgbClr val="7B9E6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1856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Graph 增强创意生成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417320" y="213055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构建引文图谱，分析引用链路和研究主题聚类，辅助发现研究空白、推荐合作者、启发新方向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7315200" y="1883664"/>
            <a:ext cx="1005840" cy="228600"/>
          </a:xfrm>
          <a:prstGeom prst="rect">
            <a:avLst/>
          </a:prstGeom>
          <a:solidFill>
            <a:srgbClr val="C75C2E"/>
          </a:solidFill>
          <a:ln/>
        </p:spPr>
      </p:sp>
      <p:sp>
        <p:nvSpPr>
          <p:cNvPr id="17" name="Text 13"/>
          <p:cNvSpPr/>
          <p:nvPr/>
        </p:nvSpPr>
        <p:spPr>
          <a:xfrm>
            <a:off x="7315200" y="188366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高优先级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40080" y="2615184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0080" y="2615184"/>
            <a:ext cx="64008" cy="713232"/>
          </a:xfrm>
          <a:prstGeom prst="rect">
            <a:avLst/>
          </a:prstGeom>
          <a:solidFill>
            <a:srgbClr val="5B8BA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770632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17320" y="26609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学术社交网络分析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417320" y="293522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基于合著关系和引用关系构建学者社交网络，可视化学术圈子和影响力传播路径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7315200" y="2688336"/>
            <a:ext cx="1005840" cy="228600"/>
          </a:xfrm>
          <a:prstGeom prst="rect">
            <a:avLst/>
          </a:prstGeom>
          <a:solidFill>
            <a:srgbClr val="D4956A"/>
          </a:solidFill>
          <a:ln/>
        </p:spPr>
      </p:sp>
      <p:sp>
        <p:nvSpPr>
          <p:cNvPr id="24" name="Text 19"/>
          <p:cNvSpPr/>
          <p:nvPr/>
        </p:nvSpPr>
        <p:spPr>
          <a:xfrm>
            <a:off x="7315200" y="268833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中优先级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640080" y="3419856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40080" y="3419856"/>
            <a:ext cx="64008" cy="713232"/>
          </a:xfrm>
          <a:prstGeom prst="rect">
            <a:avLst/>
          </a:prstGeom>
          <a:solidFill>
            <a:srgbClr val="D4956A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575304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417320" y="34655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研究趋势预测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1417320" y="373989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利用引文时序数据和主题模型，预测研究领域发展趋势，识别新兴热点方向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7315200" y="3493008"/>
            <a:ext cx="1005840" cy="228600"/>
          </a:xfrm>
          <a:prstGeom prst="rect">
            <a:avLst/>
          </a:prstGeom>
          <a:solidFill>
            <a:srgbClr val="D4956A"/>
          </a:solidFill>
          <a:ln/>
        </p:spPr>
      </p:sp>
      <p:sp>
        <p:nvSpPr>
          <p:cNvPr id="31" name="Text 25"/>
          <p:cNvSpPr/>
          <p:nvPr/>
        </p:nvSpPr>
        <p:spPr>
          <a:xfrm>
            <a:off x="7315200" y="34930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中优先级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640080" y="4224528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640080" y="4224528"/>
            <a:ext cx="64008" cy="713232"/>
          </a:xfrm>
          <a:prstGeom prst="rect">
            <a:avLst/>
          </a:prstGeom>
          <a:solidFill>
            <a:srgbClr val="A0785C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379976"/>
            <a:ext cx="347472" cy="34747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417320" y="4270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智能文献综述辅助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1417320" y="454456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基于引文语境提取结果，自动生成文献综述初稿，按主题分类组织引用关系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7315200" y="4297680"/>
            <a:ext cx="1005840" cy="228600"/>
          </a:xfrm>
          <a:prstGeom prst="rect">
            <a:avLst/>
          </a:prstGeom>
          <a:solidFill>
            <a:srgbClr val="998B7F"/>
          </a:solidFill>
          <a:ln/>
        </p:spPr>
      </p:sp>
      <p:sp>
        <p:nvSpPr>
          <p:cNvPr id="38" name="Text 31"/>
          <p:cNvSpPr/>
          <p:nvPr/>
        </p:nvSpPr>
        <p:spPr>
          <a:xfrm>
            <a:off x="7315200" y="42976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远期规划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1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5C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2743200" cy="5088636"/>
          </a:xfrm>
          <a:prstGeom prst="rect">
            <a:avLst/>
          </a:prstGeom>
          <a:solidFill>
            <a:srgbClr val="9E3A1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0972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8288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CitationClaw v2 — 让学术引文分析更智能、更可信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200400" y="3291840"/>
            <a:ext cx="2743200" cy="0"/>
          </a:xfrm>
          <a:prstGeom prst="line">
            <a:avLst/>
          </a:prstGeom>
          <a:noFill/>
          <a:ln w="12700">
            <a:solidFill>
              <a:srgbClr val="D4956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8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8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github.com/citationclaw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CitationClaw v2 — 项目介绍与架构设计</dc:title>
  <dc:subject>PptxGenJS Presentation</dc:subject>
  <dc:creator>CitationClaw Team</dc:creator>
  <cp:lastModifiedBy>CitationClaw Team</cp:lastModifiedBy>
  <cp:revision>1</cp:revision>
  <dcterms:created xsi:type="dcterms:W3CDTF">2026-03-25T14:00:49Z</dcterms:created>
  <dcterms:modified xsi:type="dcterms:W3CDTF">2026-03-25T14:00:49Z</dcterms:modified>
</cp:coreProperties>
</file>